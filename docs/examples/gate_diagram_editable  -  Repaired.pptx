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>
        <p:scale>
          <a:sx n="225" d="100"/>
          <a:sy n="225" d="100"/>
        </p:scale>
        <p:origin x="144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1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해부도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02920" y="4937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원장, 두 경로 — 실행 계약을 통과하는 질의와 그것을 우회한 주차별 ad-hoc 분석</a:t>
            </a:r>
            <a:endParaRPr lang="en-US" sz="970" dirty="0"/>
          </a:p>
        </p:txBody>
      </p:sp>
      <p:sp>
        <p:nvSpPr>
          <p:cNvPr id="4" name="Shape 2"/>
          <p:cNvSpPr/>
          <p:nvPr/>
        </p:nvSpPr>
        <p:spPr>
          <a:xfrm>
            <a:off x="4600448" y="1420774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6" name="Shape 4"/>
          <p:cNvSpPr/>
          <p:nvPr/>
        </p:nvSpPr>
        <p:spPr>
          <a:xfrm>
            <a:off x="4600448" y="2131162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8" name="Shape 6"/>
          <p:cNvSpPr/>
          <p:nvPr/>
        </p:nvSpPr>
        <p:spPr>
          <a:xfrm>
            <a:off x="4600448" y="2841549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0" name="Shape 8"/>
          <p:cNvSpPr/>
          <p:nvPr/>
        </p:nvSpPr>
        <p:spPr>
          <a:xfrm>
            <a:off x="4600448" y="3551936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1" name="Shape 9"/>
          <p:cNvSpPr/>
          <p:nvPr/>
        </p:nvSpPr>
        <p:spPr>
          <a:xfrm flipH="1">
            <a:off x="2862763" y="4747966"/>
            <a:ext cx="429077" cy="9610"/>
          </a:xfrm>
          <a:prstGeom prst="line">
            <a:avLst/>
          </a:prstGeom>
          <a:noFill/>
          <a:ln w="1397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2" name="Shape 10"/>
          <p:cNvSpPr/>
          <p:nvPr/>
        </p:nvSpPr>
        <p:spPr>
          <a:xfrm>
            <a:off x="4600448" y="4262323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4" name="Shape 12"/>
          <p:cNvSpPr/>
          <p:nvPr/>
        </p:nvSpPr>
        <p:spPr>
          <a:xfrm>
            <a:off x="4600448" y="4972710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5" name="Shape 13"/>
          <p:cNvSpPr/>
          <p:nvPr/>
        </p:nvSpPr>
        <p:spPr>
          <a:xfrm>
            <a:off x="4600448" y="5683098"/>
            <a:ext cx="0" cy="243027"/>
          </a:xfrm>
          <a:prstGeom prst="line">
            <a:avLst/>
          </a:prstGeom>
          <a:noFill/>
          <a:ln w="17780">
            <a:solidFill>
              <a:srgbClr val="0B0B0B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8" name="Shape 16"/>
          <p:cNvSpPr/>
          <p:nvPr/>
        </p:nvSpPr>
        <p:spPr>
          <a:xfrm>
            <a:off x="9180576" y="2131162"/>
            <a:ext cx="0" cy="1663802"/>
          </a:xfrm>
          <a:prstGeom prst="line">
            <a:avLst/>
          </a:prstGeom>
          <a:noFill/>
          <a:ln w="22860">
            <a:solidFill>
              <a:srgbClr val="D95A26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19" name="Shape 17"/>
          <p:cNvSpPr/>
          <p:nvPr/>
        </p:nvSpPr>
        <p:spPr>
          <a:xfrm>
            <a:off x="7965440" y="4047338"/>
            <a:ext cx="149555" cy="0"/>
          </a:xfrm>
          <a:prstGeom prst="line">
            <a:avLst/>
          </a:prstGeom>
          <a:noFill/>
          <a:ln w="22860">
            <a:solidFill>
              <a:srgbClr val="D95A26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20" name="Shape 18"/>
          <p:cNvSpPr/>
          <p:nvPr/>
        </p:nvSpPr>
        <p:spPr>
          <a:xfrm>
            <a:off x="9180576" y="4262323"/>
            <a:ext cx="0" cy="953414"/>
          </a:xfrm>
          <a:prstGeom prst="line">
            <a:avLst/>
          </a:prstGeom>
          <a:noFill/>
          <a:ln w="22860">
            <a:solidFill>
              <a:srgbClr val="D95A26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21" name="Shape 19"/>
          <p:cNvSpPr/>
          <p:nvPr/>
        </p:nvSpPr>
        <p:spPr>
          <a:xfrm>
            <a:off x="3291840" y="1028192"/>
            <a:ext cx="2617216" cy="392582"/>
          </a:xfrm>
          <a:prstGeom prst="roundRect">
            <a:avLst>
              <a:gd name="adj" fmla="val 13975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2" name="Shape 20"/>
          <p:cNvSpPr/>
          <p:nvPr/>
        </p:nvSpPr>
        <p:spPr>
          <a:xfrm>
            <a:off x="3291840" y="1701190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3" name="Shape 21"/>
          <p:cNvSpPr/>
          <p:nvPr/>
        </p:nvSpPr>
        <p:spPr>
          <a:xfrm>
            <a:off x="3291840" y="2411578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4" name="Shape 22"/>
          <p:cNvSpPr/>
          <p:nvPr/>
        </p:nvSpPr>
        <p:spPr>
          <a:xfrm>
            <a:off x="3291840" y="3121965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5" name="Shape 23"/>
          <p:cNvSpPr/>
          <p:nvPr/>
        </p:nvSpPr>
        <p:spPr>
          <a:xfrm>
            <a:off x="3291840" y="3832352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6" name="Shape 24"/>
          <p:cNvSpPr/>
          <p:nvPr/>
        </p:nvSpPr>
        <p:spPr>
          <a:xfrm>
            <a:off x="3291840" y="4542739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7" name="Shape 25"/>
          <p:cNvSpPr/>
          <p:nvPr/>
        </p:nvSpPr>
        <p:spPr>
          <a:xfrm>
            <a:off x="3291840" y="5253126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8" name="Shape 26"/>
          <p:cNvSpPr/>
          <p:nvPr/>
        </p:nvSpPr>
        <p:spPr>
          <a:xfrm>
            <a:off x="3291840" y="5963514"/>
            <a:ext cx="2617216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15240">
            <a:solidFill>
              <a:srgbClr val="0B0B0B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29" name="Shape 27"/>
          <p:cNvSpPr/>
          <p:nvPr/>
        </p:nvSpPr>
        <p:spPr>
          <a:xfrm>
            <a:off x="6241796" y="2344781"/>
            <a:ext cx="1682496" cy="560832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240">
            <a:solidFill>
              <a:srgbClr val="52514E"/>
            </a:solidFill>
            <a:prstDash val="dash"/>
          </a:ln>
        </p:spPr>
        <p:txBody>
          <a:bodyPr/>
          <a:lstStyle/>
          <a:p>
            <a:endParaRPr lang="en-KR" sz="1000"/>
          </a:p>
        </p:txBody>
      </p:sp>
      <p:sp>
        <p:nvSpPr>
          <p:cNvPr id="30" name="Shape 28"/>
          <p:cNvSpPr/>
          <p:nvPr/>
        </p:nvSpPr>
        <p:spPr>
          <a:xfrm>
            <a:off x="6282944" y="3794963"/>
            <a:ext cx="1682496" cy="504749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52514E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31" name="Shape 29"/>
          <p:cNvSpPr/>
          <p:nvPr/>
        </p:nvSpPr>
        <p:spPr>
          <a:xfrm>
            <a:off x="8152384" y="1701190"/>
            <a:ext cx="2056384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20320">
            <a:solidFill>
              <a:srgbClr val="D95A26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32" name="Shape 30"/>
          <p:cNvSpPr/>
          <p:nvPr/>
        </p:nvSpPr>
        <p:spPr>
          <a:xfrm>
            <a:off x="8152384" y="3832352"/>
            <a:ext cx="2056384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20320">
            <a:solidFill>
              <a:srgbClr val="D95A26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33" name="Shape 31"/>
          <p:cNvSpPr/>
          <p:nvPr/>
        </p:nvSpPr>
        <p:spPr>
          <a:xfrm>
            <a:off x="8152384" y="5253126"/>
            <a:ext cx="2056384" cy="429971"/>
          </a:xfrm>
          <a:prstGeom prst="roundRect">
            <a:avLst>
              <a:gd name="adj" fmla="val 12760"/>
            </a:avLst>
          </a:prstGeom>
          <a:solidFill>
            <a:srgbClr val="FFFFFF"/>
          </a:solidFill>
          <a:ln w="20320">
            <a:solidFill>
              <a:srgbClr val="D95A26"/>
            </a:solidFill>
            <a:prstDash val="solid"/>
          </a:ln>
        </p:spPr>
        <p:txBody>
          <a:bodyPr/>
          <a:lstStyle/>
          <a:p>
            <a:endParaRPr lang="en-KR" sz="1000"/>
          </a:p>
        </p:txBody>
      </p:sp>
      <p:sp>
        <p:nvSpPr>
          <p:cNvPr id="34" name="Text 32"/>
          <p:cNvSpPr/>
          <p:nvPr/>
        </p:nvSpPr>
        <p:spPr>
          <a:xfrm>
            <a:off x="3526028" y="868863"/>
            <a:ext cx="214884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 경로 — 실행 계약</a:t>
            </a:r>
            <a:endParaRPr lang="ko-KR" sz="1000" dirty="0"/>
          </a:p>
        </p:txBody>
      </p:sp>
      <p:sp>
        <p:nvSpPr>
          <p:cNvPr id="35" name="Text 33"/>
          <p:cNvSpPr/>
          <p:nvPr/>
        </p:nvSpPr>
        <p:spPr>
          <a:xfrm>
            <a:off x="3329432" y="1095785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질문</a:t>
            </a:r>
            <a:endParaRPr lang="ko-KR" sz="1000" dirty="0"/>
          </a:p>
        </p:txBody>
      </p:sp>
      <p:sp>
        <p:nvSpPr>
          <p:cNvPr id="36" name="Text 34"/>
          <p:cNvSpPr/>
          <p:nvPr/>
        </p:nvSpPr>
        <p:spPr>
          <a:xfrm>
            <a:off x="3329432" y="1252098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"7월 매출이 왜 변했나?"</a:t>
            </a:r>
            <a:endParaRPr lang="ko-KR" sz="1000" dirty="0"/>
          </a:p>
        </p:txBody>
      </p:sp>
      <p:sp>
        <p:nvSpPr>
          <p:cNvPr id="37" name="Text 35"/>
          <p:cNvSpPr/>
          <p:nvPr/>
        </p:nvSpPr>
        <p:spPr>
          <a:xfrm>
            <a:off x="3329432" y="1778130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해석 · 절 바인딩</a:t>
            </a:r>
            <a:endParaRPr lang="ko-KR" sz="1000" dirty="0"/>
          </a:p>
        </p:txBody>
      </p:sp>
      <p:sp>
        <p:nvSpPr>
          <p:cNvPr id="38" name="Text 36"/>
          <p:cNvSpPr/>
          <p:nvPr/>
        </p:nvSpPr>
        <p:spPr>
          <a:xfrm>
            <a:off x="3329432" y="1934444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닫힌 어휘 · 모든 절의 소비/거부 기록</a:t>
            </a:r>
            <a:endParaRPr lang="ko-KR" sz="1000" dirty="0"/>
          </a:p>
        </p:txBody>
      </p:sp>
      <p:sp>
        <p:nvSpPr>
          <p:cNvPr id="39" name="Text 37"/>
          <p:cNvSpPr/>
          <p:nvPr/>
        </p:nvSpPr>
        <p:spPr>
          <a:xfrm>
            <a:off x="975815" y="1803583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altLang="ko-KR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ko-KR" altLang="en-US" sz="1000" dirty="0" err="1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larify</a:t>
            </a: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x1</a:t>
            </a:r>
            <a:endParaRPr lang="ko-KR" alt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29432" y="2488518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의미 검증 (Query Spec · Slice)</a:t>
            </a:r>
            <a:endParaRPr lang="ko-KR" sz="1000" dirty="0"/>
          </a:p>
        </p:txBody>
      </p:sp>
      <p:sp>
        <p:nvSpPr>
          <p:cNvPr id="42" name="Text 40"/>
          <p:cNvSpPr/>
          <p:nvPr/>
        </p:nvSpPr>
        <p:spPr>
          <a:xfrm>
            <a:off x="3329432" y="2644831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버전 · 기간 · scope 등록 · 원장 존재</a:t>
            </a:r>
            <a:endParaRPr lang="ko-KR" sz="1000" dirty="0"/>
          </a:p>
        </p:txBody>
      </p:sp>
      <p:sp>
        <p:nvSpPr>
          <p:cNvPr id="43" name="Text 41"/>
          <p:cNvSpPr/>
          <p:nvPr/>
        </p:nvSpPr>
        <p:spPr>
          <a:xfrm>
            <a:off x="975815" y="2513970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ko-KR" altLang="en-US" sz="1000" dirty="0" err="1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out_of_domain</a:t>
            </a: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ko-KR" altLang="en-US" sz="1000" dirty="0" err="1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suspended</a:t>
            </a:r>
            <a:endParaRPr lang="ko-KR" alt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29432" y="3198905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admissibility · 탐색 예산</a:t>
            </a:r>
            <a:endParaRPr lang="ko-KR" sz="1000" dirty="0"/>
          </a:p>
        </p:txBody>
      </p:sp>
      <p:sp>
        <p:nvSpPr>
          <p:cNvPr id="46" name="Text 44"/>
          <p:cNvSpPr/>
          <p:nvPr/>
        </p:nvSpPr>
        <p:spPr>
          <a:xfrm>
            <a:off x="3329432" y="3355218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 × metric type · depth/segments/calls 선점</a:t>
            </a:r>
            <a:endParaRPr lang="ko-KR" sz="1000" dirty="0"/>
          </a:p>
        </p:txBody>
      </p:sp>
      <p:sp>
        <p:nvSpPr>
          <p:cNvPr id="47" name="Text 45"/>
          <p:cNvSpPr/>
          <p:nvPr/>
        </p:nvSpPr>
        <p:spPr>
          <a:xfrm>
            <a:off x="975815" y="3224357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out_of_domain</a:t>
            </a:r>
            <a:endParaRPr lang="ko-KR" sz="1000" dirty="0"/>
          </a:p>
        </p:txBody>
      </p:sp>
      <p:sp>
        <p:nvSpPr>
          <p:cNvPr id="48" name="Text 46"/>
          <p:cNvSpPr/>
          <p:nvPr/>
        </p:nvSpPr>
        <p:spPr>
          <a:xfrm>
            <a:off x="975815" y="3336524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budget_exhausted</a:t>
            </a:r>
            <a:endParaRPr lang="ko-KR" sz="1000" dirty="0"/>
          </a:p>
        </p:txBody>
      </p:sp>
      <p:sp>
        <p:nvSpPr>
          <p:cNvPr id="49" name="Text 47"/>
          <p:cNvSpPr/>
          <p:nvPr/>
        </p:nvSpPr>
        <p:spPr>
          <a:xfrm>
            <a:off x="3329432" y="3909292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데이터 게이트</a:t>
            </a:r>
            <a:endParaRPr lang="ko-KR" sz="1000" dirty="0"/>
          </a:p>
        </p:txBody>
      </p:sp>
      <p:sp>
        <p:nvSpPr>
          <p:cNvPr id="50" name="Text 48"/>
          <p:cNvSpPr/>
          <p:nvPr/>
        </p:nvSpPr>
        <p:spPr>
          <a:xfrm>
            <a:off x="3329432" y="4065605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 · 부호 규범 · 파티션 · 잔차 검출</a:t>
            </a:r>
            <a:endParaRPr lang="ko-KR" sz="1000" dirty="0"/>
          </a:p>
        </p:txBody>
      </p:sp>
      <p:sp>
        <p:nvSpPr>
          <p:cNvPr id="51" name="Text 49"/>
          <p:cNvSpPr/>
          <p:nvPr/>
        </p:nvSpPr>
        <p:spPr>
          <a:xfrm>
            <a:off x="975815" y="3990828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out_of_domain</a:t>
            </a:r>
            <a:endParaRPr lang="ko-KR" sz="1000" dirty="0"/>
          </a:p>
        </p:txBody>
      </p:sp>
      <p:sp>
        <p:nvSpPr>
          <p:cNvPr id="52" name="Text 50"/>
          <p:cNvSpPr/>
          <p:nvPr/>
        </p:nvSpPr>
        <p:spPr>
          <a:xfrm>
            <a:off x="3329432" y="4619679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사후 검증</a:t>
            </a:r>
            <a:endParaRPr lang="ko-KR" sz="1000" dirty="0"/>
          </a:p>
        </p:txBody>
      </p:sp>
      <p:sp>
        <p:nvSpPr>
          <p:cNvPr id="53" name="Text 51"/>
          <p:cNvSpPr/>
          <p:nvPr/>
        </p:nvSpPr>
        <p:spPr>
          <a:xfrm>
            <a:off x="3329432" y="4775992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identity_recheck (Σ기여=Δ) · share 억제</a:t>
            </a:r>
            <a:endParaRPr lang="ko-KR" sz="1000" dirty="0"/>
          </a:p>
        </p:txBody>
      </p:sp>
      <p:sp>
        <p:nvSpPr>
          <p:cNvPr id="54" name="Text 52"/>
          <p:cNvSpPr/>
          <p:nvPr/>
        </p:nvSpPr>
        <p:spPr>
          <a:xfrm>
            <a:off x="975815" y="4701215"/>
            <a:ext cx="179258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out_of_domain</a:t>
            </a:r>
            <a:endParaRPr lang="ko-KR" sz="1000" dirty="0"/>
          </a:p>
        </p:txBody>
      </p:sp>
      <p:sp>
        <p:nvSpPr>
          <p:cNvPr id="55" name="Text 53"/>
          <p:cNvSpPr/>
          <p:nvPr/>
        </p:nvSpPr>
        <p:spPr>
          <a:xfrm>
            <a:off x="3329432" y="5330066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 Envelope</a:t>
            </a:r>
            <a:endParaRPr lang="ko-KR" sz="1000" dirty="0"/>
          </a:p>
        </p:txBody>
      </p:sp>
      <p:sp>
        <p:nvSpPr>
          <p:cNvPr id="56" name="Text 54"/>
          <p:cNvSpPr/>
          <p:nvPr/>
        </p:nvSpPr>
        <p:spPr>
          <a:xfrm>
            <a:off x="3329432" y="5486380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+ label 상한 + provenance (spec·input hash)</a:t>
            </a:r>
            <a:endParaRPr lang="ko-KR" sz="1000" dirty="0"/>
          </a:p>
        </p:txBody>
      </p:sp>
      <p:sp>
        <p:nvSpPr>
          <p:cNvPr id="57" name="Text 55"/>
          <p:cNvSpPr/>
          <p:nvPr/>
        </p:nvSpPr>
        <p:spPr>
          <a:xfrm>
            <a:off x="3329432" y="6040454"/>
            <a:ext cx="2542032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보고 경계</a:t>
            </a:r>
            <a:endParaRPr lang="ko-KR" sz="1000" dirty="0"/>
          </a:p>
        </p:txBody>
      </p:sp>
      <p:sp>
        <p:nvSpPr>
          <p:cNvPr id="58" name="Text 56"/>
          <p:cNvSpPr/>
          <p:nvPr/>
        </p:nvSpPr>
        <p:spPr>
          <a:xfrm>
            <a:off x="3329432" y="6196767"/>
            <a:ext cx="2542032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Envelope만 소비 · claim ceiling · lint R01~R14</a:t>
            </a:r>
            <a:endParaRPr lang="ko-KR" sz="1000" dirty="0"/>
          </a:p>
        </p:txBody>
      </p:sp>
      <p:sp>
        <p:nvSpPr>
          <p:cNvPr id="59" name="Text 57"/>
          <p:cNvSpPr/>
          <p:nvPr/>
        </p:nvSpPr>
        <p:spPr>
          <a:xfrm>
            <a:off x="6299200" y="2427676"/>
            <a:ext cx="1600200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calendar/window</a:t>
            </a:r>
            <a:endParaRPr lang="ko-KR" sz="1000" dirty="0"/>
          </a:p>
        </p:txBody>
      </p:sp>
      <p:sp>
        <p:nvSpPr>
          <p:cNvPr id="60" name="Text 58"/>
          <p:cNvSpPr/>
          <p:nvPr/>
        </p:nvSpPr>
        <p:spPr>
          <a:xfrm>
            <a:off x="6299200" y="2583989"/>
            <a:ext cx="160020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✓ · 주간 ✗</a:t>
            </a:r>
            <a:endParaRPr lang="ko-KR" sz="1000" dirty="0"/>
          </a:p>
        </p:txBody>
      </p:sp>
      <p:sp>
        <p:nvSpPr>
          <p:cNvPr id="61" name="Text 59"/>
          <p:cNvSpPr/>
          <p:nvPr/>
        </p:nvSpPr>
        <p:spPr>
          <a:xfrm>
            <a:off x="6299200" y="2714850"/>
            <a:ext cx="160020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E-007 확장점</a:t>
            </a:r>
            <a:endParaRPr lang="ko-KR" sz="1000" dirty="0"/>
          </a:p>
        </p:txBody>
      </p:sp>
      <p:sp>
        <p:nvSpPr>
          <p:cNvPr id="62" name="Text 60"/>
          <p:cNvSpPr/>
          <p:nvPr/>
        </p:nvSpPr>
        <p:spPr>
          <a:xfrm>
            <a:off x="6124813" y="2051209"/>
            <a:ext cx="506005" cy="175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</a:t>
            </a:r>
            <a:endParaRPr lang="ko-KR" sz="1000" dirty="0"/>
          </a:p>
        </p:txBody>
      </p:sp>
      <p:sp>
        <p:nvSpPr>
          <p:cNvPr id="63" name="Text 61"/>
          <p:cNvSpPr/>
          <p:nvPr/>
        </p:nvSpPr>
        <p:spPr>
          <a:xfrm>
            <a:off x="6324092" y="3899945"/>
            <a:ext cx="1600200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원장</a:t>
            </a:r>
            <a:endParaRPr lang="ko-KR" sz="1000" dirty="0"/>
          </a:p>
        </p:txBody>
      </p:sp>
      <p:sp>
        <p:nvSpPr>
          <p:cNvPr id="64" name="Text 62"/>
          <p:cNvSpPr/>
          <p:nvPr/>
        </p:nvSpPr>
        <p:spPr>
          <a:xfrm>
            <a:off x="6324092" y="4056258"/>
            <a:ext cx="160020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2,154행 · 2026-06-01~07-31</a:t>
            </a:r>
            <a:endParaRPr lang="ko-KR" sz="1000" dirty="0"/>
          </a:p>
        </p:txBody>
      </p:sp>
      <p:sp>
        <p:nvSpPr>
          <p:cNvPr id="65" name="Text 63"/>
          <p:cNvSpPr/>
          <p:nvPr/>
        </p:nvSpPr>
        <p:spPr>
          <a:xfrm>
            <a:off x="6090048" y="3584717"/>
            <a:ext cx="1313161" cy="17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내 읽기</a:t>
            </a:r>
            <a:endParaRPr lang="ko-KR" sz="1000" dirty="0"/>
          </a:p>
        </p:txBody>
      </p:sp>
      <p:sp>
        <p:nvSpPr>
          <p:cNvPr id="66" name="Text 64"/>
          <p:cNvSpPr/>
          <p:nvPr/>
        </p:nvSpPr>
        <p:spPr>
          <a:xfrm>
            <a:off x="8471916" y="864836"/>
            <a:ext cx="1417320" cy="108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D95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주차별 분석 — 게이트 우회</a:t>
            </a:r>
            <a:endParaRPr lang="ko-KR" sz="1000" dirty="0"/>
          </a:p>
        </p:txBody>
      </p:sp>
      <p:sp>
        <p:nvSpPr>
          <p:cNvPr id="67" name="Text 65"/>
          <p:cNvSpPr/>
          <p:nvPr/>
        </p:nvSpPr>
        <p:spPr>
          <a:xfrm>
            <a:off x="8220456" y="1778130"/>
            <a:ext cx="1920240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스크립트</a:t>
            </a:r>
            <a:endParaRPr lang="ko-KR" sz="1000" dirty="0"/>
          </a:p>
        </p:txBody>
      </p:sp>
      <p:sp>
        <p:nvSpPr>
          <p:cNvPr id="68" name="Text 66"/>
          <p:cNvSpPr/>
          <p:nvPr/>
        </p:nvSpPr>
        <p:spPr>
          <a:xfrm>
            <a:off x="8220456" y="1934444"/>
            <a:ext cx="192024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없음 — 코드가 직접 시작</a:t>
            </a:r>
            <a:endParaRPr lang="ko-KR" sz="1000" dirty="0"/>
          </a:p>
        </p:txBody>
      </p:sp>
      <p:sp>
        <p:nvSpPr>
          <p:cNvPr id="69" name="Text 67"/>
          <p:cNvSpPr/>
          <p:nvPr/>
        </p:nvSpPr>
        <p:spPr>
          <a:xfrm>
            <a:off x="9274048" y="2902526"/>
            <a:ext cx="1417320" cy="1080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D95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0개 통과</a:t>
            </a:r>
            <a:endParaRPr lang="ko-KR" sz="1000" dirty="0"/>
          </a:p>
        </p:txBody>
      </p:sp>
      <p:sp>
        <p:nvSpPr>
          <p:cNvPr id="70" name="Text 68"/>
          <p:cNvSpPr/>
          <p:nvPr/>
        </p:nvSpPr>
        <p:spPr>
          <a:xfrm>
            <a:off x="8432800" y="3659002"/>
            <a:ext cx="32004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읽기</a:t>
            </a:r>
            <a:endParaRPr lang="ko-KR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3909292"/>
            <a:ext cx="1920240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주차 groupby · % 계산</a:t>
            </a:r>
            <a:endParaRPr lang="ko-KR" sz="1000" dirty="0"/>
          </a:p>
        </p:txBody>
      </p:sp>
      <p:sp>
        <p:nvSpPr>
          <p:cNvPr id="72" name="Text 70"/>
          <p:cNvSpPr/>
          <p:nvPr/>
        </p:nvSpPr>
        <p:spPr>
          <a:xfrm>
            <a:off x="8220456" y="4065605"/>
            <a:ext cx="192024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커버리지·부호·항등식 검사 없음</a:t>
            </a:r>
            <a:endParaRPr lang="ko-KR" sz="1000" dirty="0"/>
          </a:p>
        </p:txBody>
      </p:sp>
      <p:sp>
        <p:nvSpPr>
          <p:cNvPr id="73" name="Text 71"/>
          <p:cNvSpPr/>
          <p:nvPr/>
        </p:nvSpPr>
        <p:spPr>
          <a:xfrm>
            <a:off x="8220456" y="5330066"/>
            <a:ext cx="1920240" cy="12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0B0B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· 차트</a:t>
            </a:r>
            <a:endParaRPr lang="ko-KR" sz="1000" dirty="0"/>
          </a:p>
        </p:txBody>
      </p:sp>
      <p:sp>
        <p:nvSpPr>
          <p:cNvPr id="74" name="Text 72"/>
          <p:cNvSpPr/>
          <p:nvPr/>
        </p:nvSpPr>
        <p:spPr>
          <a:xfrm>
            <a:off x="8220456" y="5486380"/>
            <a:ext cx="1920240" cy="103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5251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label 상한 없음 · provenance 없음</a:t>
            </a:r>
            <a:endParaRPr lang="ko-KR" sz="1000" dirty="0"/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AC5F0DB4-54C3-E3F8-864F-60DB7C8599E6}"/>
              </a:ext>
            </a:extLst>
          </p:cNvPr>
          <p:cNvSpPr/>
          <p:nvPr/>
        </p:nvSpPr>
        <p:spPr>
          <a:xfrm flipH="1">
            <a:off x="2862763" y="4046648"/>
            <a:ext cx="429077" cy="9610"/>
          </a:xfrm>
          <a:prstGeom prst="line">
            <a:avLst/>
          </a:prstGeom>
          <a:noFill/>
          <a:ln w="1397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76" name="Shape 9">
            <a:extLst>
              <a:ext uri="{FF2B5EF4-FFF2-40B4-BE49-F238E27FC236}">
                <a16:creationId xmlns:a16="http://schemas.microsoft.com/office/drawing/2014/main" id="{6D1C8AC5-EE18-3B32-FBAD-0BA05051AA20}"/>
              </a:ext>
            </a:extLst>
          </p:cNvPr>
          <p:cNvSpPr/>
          <p:nvPr/>
        </p:nvSpPr>
        <p:spPr>
          <a:xfrm flipH="1">
            <a:off x="2862763" y="3345381"/>
            <a:ext cx="429077" cy="9610"/>
          </a:xfrm>
          <a:prstGeom prst="line">
            <a:avLst/>
          </a:prstGeom>
          <a:noFill/>
          <a:ln w="1397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77" name="Shape 9">
            <a:extLst>
              <a:ext uri="{FF2B5EF4-FFF2-40B4-BE49-F238E27FC236}">
                <a16:creationId xmlns:a16="http://schemas.microsoft.com/office/drawing/2014/main" id="{2EB3F385-1A86-281A-E3B1-B640F0560F94}"/>
              </a:ext>
            </a:extLst>
          </p:cNvPr>
          <p:cNvSpPr/>
          <p:nvPr/>
        </p:nvSpPr>
        <p:spPr>
          <a:xfrm flipH="1">
            <a:off x="2862763" y="2644831"/>
            <a:ext cx="429077" cy="9610"/>
          </a:xfrm>
          <a:prstGeom prst="line">
            <a:avLst/>
          </a:prstGeom>
          <a:noFill/>
          <a:ln w="1397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sp>
        <p:nvSpPr>
          <p:cNvPr id="78" name="Shape 9">
            <a:extLst>
              <a:ext uri="{FF2B5EF4-FFF2-40B4-BE49-F238E27FC236}">
                <a16:creationId xmlns:a16="http://schemas.microsoft.com/office/drawing/2014/main" id="{E8451413-B9C4-C537-6054-078061AF7A9B}"/>
              </a:ext>
            </a:extLst>
          </p:cNvPr>
          <p:cNvSpPr/>
          <p:nvPr/>
        </p:nvSpPr>
        <p:spPr>
          <a:xfrm flipH="1">
            <a:off x="2862763" y="1934217"/>
            <a:ext cx="429077" cy="9610"/>
          </a:xfrm>
          <a:prstGeom prst="line">
            <a:avLst/>
          </a:prstGeom>
          <a:noFill/>
          <a:ln w="13970">
            <a:solidFill>
              <a:srgbClr val="52514E"/>
            </a:solidFill>
            <a:prstDash val="solid"/>
            <a:tailEnd type="triangle"/>
          </a:ln>
        </p:spPr>
        <p:txBody>
          <a:bodyPr/>
          <a:lstStyle/>
          <a:p>
            <a:endParaRPr lang="en-KR" sz="100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2AEB957-B1FC-89A8-879E-527907ABD27A}"/>
              </a:ext>
            </a:extLst>
          </p:cNvPr>
          <p:cNvCxnSpPr>
            <a:stCxn id="30" idx="1"/>
            <a:endCxn id="25" idx="3"/>
          </p:cNvCxnSpPr>
          <p:nvPr/>
        </p:nvCxnSpPr>
        <p:spPr>
          <a:xfrm flipH="1">
            <a:off x="5909056" y="4047338"/>
            <a:ext cx="37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49493C1-48EA-16B8-B030-27EFB0484240}"/>
              </a:ext>
            </a:extLst>
          </p:cNvPr>
          <p:cNvCxnSpPr>
            <a:cxnSpLocks/>
            <a:stCxn id="29" idx="1"/>
            <a:endCxn id="23" idx="3"/>
          </p:cNvCxnSpPr>
          <p:nvPr/>
        </p:nvCxnSpPr>
        <p:spPr>
          <a:xfrm flipH="1">
            <a:off x="5909056" y="2625197"/>
            <a:ext cx="332740" cy="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12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226</Words>
  <Application>Microsoft Macintosh PowerPoint</Application>
  <PresentationFormat>Widescreen</PresentationFormat>
  <Paragraphs>42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Malgun Gothic</vt:lpstr>
      <vt:lpstr>Arial</vt:lpstr>
      <vt:lpstr>Consolas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게이트 해부도</dc:title>
  <dc:subject>Editable PowerPoint conversion from SVG/WebArchive</dc:subject>
  <dc:creator>OpenAI</dc:creator>
  <cp:lastModifiedBy>Eugene Kim</cp:lastModifiedBy>
  <cp:revision>3</cp:revision>
  <dcterms:created xsi:type="dcterms:W3CDTF">2026-08-16T21:55:22Z</dcterms:created>
  <dcterms:modified xsi:type="dcterms:W3CDTF">2026-08-17T05:06:28Z</dcterms:modified>
</cp:coreProperties>
</file>